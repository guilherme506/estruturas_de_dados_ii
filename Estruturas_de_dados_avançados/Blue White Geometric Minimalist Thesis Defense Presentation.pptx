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Roboto Bold" charset="1" panose="02000000000000000000"/>
      <p:regular r:id="rId9"/>
    </p:embeddedFont>
    <p:embeddedFont>
      <p:font typeface="Open Sans" charset="1" panose="020B0606030504020204"/>
      <p:regular r:id="rId10"/>
    </p:embeddedFont>
    <p:embeddedFont>
      <p:font typeface="Open Sans Bold" charset="1" panose="020B0806030504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pt.wikipedia.org/wiki/Matem%C3%A1tico" TargetMode="External" Type="http://schemas.openxmlformats.org/officeDocument/2006/relationships/hyperlink"/><Relationship Id="rId11" Target="https://pt.wikipedia.org/wiki/Reino_Unido" TargetMode="External" Type="http://schemas.openxmlformats.org/officeDocument/2006/relationships/hyperlink"/><Relationship Id="rId12" Target="https://pt.wikipedia.org/wiki/John_Conway" TargetMode="External" Type="http://schemas.openxmlformats.org/officeDocument/2006/relationships/hyperlink"/><Relationship Id="rId13" Target="https://pt.wikipedia.org/wiki/John_Conway" TargetMode="External" Type="http://schemas.openxmlformats.org/officeDocument/2006/relationships/hyperlink"/><Relationship Id="rId14" Target="https://pt.wikipedia.org/wiki/Vizinhan%C3%A7a_de_Moore" TargetMode="External" Type="http://schemas.openxmlformats.org/officeDocument/2006/relationships/hyperlink"/><Relationship Id="rId2" Target="../media/image3.jpeg" Type="http://schemas.openxmlformats.org/officeDocument/2006/relationships/image"/><Relationship Id="rId3" Target="../media/VAHVl_MsJ1o.mp4" Type="http://schemas.openxmlformats.org/officeDocument/2006/relationships/video"/><Relationship Id="rId4" Target="../media/VAHVl_MsJ1o.mp4" Type="http://schemas.microsoft.com/office/2007/relationships/media"/><Relationship Id="rId5" Target="https://pt.wikipedia.org/wiki/Jogo" TargetMode="External" Type="http://schemas.openxmlformats.org/officeDocument/2006/relationships/hyperlink"/><Relationship Id="rId6" Target="https://pt.wikipedia.org/wiki/Ser_vivo" TargetMode="External" Type="http://schemas.openxmlformats.org/officeDocument/2006/relationships/hyperlink"/><Relationship Id="rId7" Target="https://pt.wikipedia.org/wiki/Ci%C3%AAncia" TargetMode="External" Type="http://schemas.openxmlformats.org/officeDocument/2006/relationships/hyperlink"/><Relationship Id="rId8" Target="https://pt.wikipedia.org/wiki/Matem%C3%A1tico" TargetMode="External" Type="http://schemas.openxmlformats.org/officeDocument/2006/relationships/hyperlink"/><Relationship Id="rId9" Target="https://pt.wikipedia.org/wiki/Matem%C3%A1tico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8129" y="-2195789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1113" y="3186596"/>
            <a:ext cx="9292749" cy="100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Conway’s Game of Life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8623094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1028700" y="1413173"/>
            <a:ext cx="12844365" cy="6611874"/>
          </a:xfrm>
          <a:custGeom>
            <a:avLst/>
            <a:gdLst/>
            <a:ahLst/>
            <a:cxnLst/>
            <a:rect r="r" b="b" t="t" l="l"/>
            <a:pathLst>
              <a:path h="6611874" w="12844365">
                <a:moveTo>
                  <a:pt x="0" y="6611874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284436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>
            <a:off x="4414935" y="2459563"/>
            <a:ext cx="12844365" cy="6519963"/>
          </a:xfrm>
          <a:custGeom>
            <a:avLst/>
            <a:gdLst/>
            <a:ahLst/>
            <a:cxnLst/>
            <a:rect r="r" b="b" t="t" l="l"/>
            <a:pathLst>
              <a:path h="6519963" w="12844365">
                <a:moveTo>
                  <a:pt x="0" y="6519963"/>
                </a:moveTo>
                <a:lnTo>
                  <a:pt x="12615765" y="6519963"/>
                </a:lnTo>
                <a:cubicBezTo>
                  <a:pt x="12742018" y="6519963"/>
                  <a:pt x="12844365" y="6417615"/>
                  <a:pt x="12844365" y="6291363"/>
                </a:cubicBezTo>
                <a:lnTo>
                  <a:pt x="1284436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1217064" y="5604815"/>
            <a:ext cx="513189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Henrique Kirch Heck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Arthur Santos Aguiar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Guilherme Borges Galvão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006473" y="4373634"/>
            <a:ext cx="8407663" cy="605351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0151" y="61950"/>
            <a:ext cx="336025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Sobre o jogo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649" y="793750"/>
            <a:ext cx="897049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pt.wikipedia.org/wiki/Jogo"/>
              </a:rPr>
              <a:t>jogo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foi criado de modo a reproduzir, através de regras simples, as alterações e mudanças em grupos de </a:t>
            </a: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pt.wikipedia.org/wiki/Ser_vivo"/>
              </a:rPr>
              <a:t>seres vivos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tendo aplicações em diversas áreas da </a:t>
            </a: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pt.wikipedia.org/wiki/Ci%C3%AAncia"/>
              </a:rPr>
              <a:t>ciência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21325" y="61950"/>
            <a:ext cx="207680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Criador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22481" y="793750"/>
            <a:ext cx="637564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8" tooltip="https://pt.wikipedia.org/wiki/Matem%C3%A1tico"/>
              </a:rPr>
              <a:t>M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9" tooltip="https://pt.wikipedia.org/wiki/Matem%C3%A1tico"/>
              </a:rPr>
              <a:t>at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0" tooltip="https://pt.wikipedia.org/wiki/Matem%C3%A1tico"/>
              </a:rPr>
              <a:t>emático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1" tooltip="https://pt.wikipedia.org/wiki/Reino_Unido"/>
              </a:rPr>
              <a:t>britânico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2" tooltip="https://pt.wikipedia.org/wiki/John_Conway"/>
              </a:rPr>
              <a:t>John Horton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3" tooltip="https://pt.wikipedia.org/wiki/John_Conway"/>
              </a:rPr>
              <a:t>Conway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49" y="2434268"/>
            <a:ext cx="8979351" cy="743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O 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jogo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vida se passa em um arranjo bidimensional infinito de células que podem estar em um de dois estados, vivo ou morto. Cada célula interage com suas oito </a:t>
            </a: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4" tooltip="https://pt.wikipedia.org/wiki/Vizinhan%C3%A7a_de_Moore"/>
              </a:rPr>
              <a:t>vizinhas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as células adjacentes horizontal, vertical e diagonalmente. O jogo evolui em unidades de tempo discretas chamadas de gerações. A cada nova geração, o estado do jogo é atualizado pela aplicação das seguintes regras: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Toda célula morta com exatamente trê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vizinho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vivos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torna-se viva (nascimento).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Toda célula viva com menos de dois vizinhos vivos morre por isolamento.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Toda célula viva com mais de três vizinhos vivos morre por superpopulação.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Toda célula viva 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 do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ou tr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ê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vizi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hos vivos permane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v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24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https://playgameoflife.com/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5415" y="2145603"/>
            <a:ext cx="5995795" cy="5995795"/>
          </a:xfrm>
          <a:custGeom>
            <a:avLst/>
            <a:gdLst/>
            <a:ahLst/>
            <a:cxnLst/>
            <a:rect r="r" b="b" t="t" l="l"/>
            <a:pathLst>
              <a:path h="5995795" w="5995795">
                <a:moveTo>
                  <a:pt x="0" y="0"/>
                </a:moveTo>
                <a:lnTo>
                  <a:pt x="5995795" y="0"/>
                </a:lnTo>
                <a:lnTo>
                  <a:pt x="5995795" y="5995794"/>
                </a:lnTo>
                <a:lnTo>
                  <a:pt x="0" y="5995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076" y="232133"/>
            <a:ext cx="1057195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 da implementação ingênua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79650"/>
            <a:ext cx="9173419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implementação ingênua do algoritimo das regras do jogo é extremamente ineficiente, precisando iterar sobre todas as celulas da grid do tamanho escolhido. Isso tem um uma complexidade temporal de O(n²) 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Usando multiplas tecnicas podemos melhorar a performance da simulação, como: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Particionamento de espaço usando arvores balanceadas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Aumento dinamico da grid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Evitando computações desnecessarias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Juntando extremidades do grid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SIMD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DAHVl0kYHbg</dc:identifier>
  <dcterms:modified xsi:type="dcterms:W3CDTF">2011-08-01T06:04:30Z</dcterms:modified>
  <cp:revision>1</cp:revision>
  <dc:title>Blue White Geometric Minimalist Thesis Defense Presentation</dc:title>
</cp:coreProperties>
</file>